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8580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Extended Kalman Filter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Localization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Pioneer 3-DX · Odometry + LiDAR · ROS 2 / Python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9809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Final method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EKF prediction from odometry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22831"/>
                </a:solidFill>
              </a:rPr>
              <a:t>Correction from LiDAR scan matching against a SLAM map</a:t>
            </a:r>
            <a:endParaRPr lang="en-US" sz="1350" dirty="0"/>
          </a:p>
        </p:txBody>
      </p:sp>
      <p:pic>
        <p:nvPicPr>
          <p:cNvPr id="8" name="Image 0" descr="/Users/diogocosta/Documents/New project 2/versão final/results/corredor/overlay_ekf_vs_odom_vs_sl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594360"/>
            <a:ext cx="4937760" cy="5074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37960" y="5715000"/>
            <a:ext cx="1645920" cy="283464"/>
          </a:xfrm>
          <a:prstGeom prst="roundRect">
            <a:avLst>
              <a:gd name="adj" fmla="val 22581"/>
            </a:avLst>
          </a:prstGeom>
          <a:solidFill>
            <a:srgbClr val="08A045">
              <a:alpha val="93000"/>
            </a:srgbClr>
          </a:solidFill>
          <a:ln w="12700">
            <a:solidFill>
              <a:srgbClr val="08A04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11112" y="5774436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green = SLAM reference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366760" y="5715000"/>
            <a:ext cx="1325880" cy="283464"/>
          </a:xfrm>
          <a:prstGeom prst="roundRect">
            <a:avLst>
              <a:gd name="adj" fmla="val 22581"/>
            </a:avLst>
          </a:prstGeom>
          <a:solidFill>
            <a:srgbClr val="E23B3B">
              <a:alpha val="93000"/>
            </a:srgbClr>
          </a:solidFill>
          <a:ln w="12700">
            <a:solidFill>
              <a:srgbClr val="E23B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9912" y="577443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red = odometry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9875520" y="5715000"/>
            <a:ext cx="1143000" cy="283464"/>
          </a:xfrm>
          <a:prstGeom prst="roundRect">
            <a:avLst>
              <a:gd name="adj" fmla="val 22581"/>
            </a:avLst>
          </a:prstGeom>
          <a:solidFill>
            <a:srgbClr val="275DFF">
              <a:alpha val="93000"/>
            </a:srgbClr>
          </a:solidFill>
          <a:ln w="12700">
            <a:solidFill>
              <a:srgbClr val="275D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48672" y="577443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blue = EKF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objective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91056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0876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22831"/>
                </a:solidFill>
              </a:rPr>
              <a:t>Indoor GPS is not available, so the robot must localize using onboard sensors.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2157984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7568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22831"/>
                </a:solidFill>
              </a:rPr>
              <a:t>Wheel odometry is smooth and frequent but accumulates drift over time.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2724912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64261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22831"/>
                </a:solidFill>
              </a:rPr>
              <a:t>LiDAR observes the environment and can correct the pose relative to a map.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20954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22831"/>
                </a:solidFill>
              </a:rPr>
              <a:t>Goal: estimate the robot pose (x, y, theta) in real time using EKF localization.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46520" y="1444752"/>
            <a:ext cx="23317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444752"/>
            <a:ext cx="82296" cy="9875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Robot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47688" y="1901952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Pioneer 3-DX differential-drive platform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1444752"/>
            <a:ext cx="23317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444752"/>
            <a:ext cx="82296" cy="987552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Relative sensing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53728" y="1901952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Wheel encoders provide odometry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697480"/>
            <a:ext cx="23317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697480"/>
            <a:ext cx="82296" cy="987552"/>
          </a:xfrm>
          <a:prstGeom prst="rect">
            <a:avLst/>
          </a:prstGeom>
          <a:solidFill>
            <a:srgbClr val="275DFF"/>
          </a:solidFill>
          <a:ln w="12700">
            <a:solidFill>
              <a:srgbClr val="275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2862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Absolute sensing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47688" y="3154680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2D LiDAR scan matched against the map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2697480"/>
            <a:ext cx="23317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2697480"/>
            <a:ext cx="82296" cy="987552"/>
          </a:xfrm>
          <a:prstGeom prst="rect">
            <a:avLst/>
          </a:prstGeom>
          <a:solidFill>
            <a:srgbClr val="08A045"/>
          </a:solidFill>
          <a:ln w="12700">
            <a:solidFill>
              <a:srgbClr val="08A0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2862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53728" y="3154680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SLAM trajectory used only as reference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416052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EEF7F7"/>
          </a:solidFill>
          <a:ln w="12700">
            <a:solidFill>
              <a:srgbClr val="B6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437083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Key challenge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93408" y="464515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1"/>
                </a:solidFill>
              </a:rPr>
              <a:t>Fuse noisy relative motion with map-based observations without using the SLAM pose as an input.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robotics framing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31"/>
                </a:solidFill>
              </a:rPr>
              <a:t>Robot pose is represented as a belief, not a single perfect value.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856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bel(x_t) = p(x_t | z_{1:t}, u_{1:t}, m)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452628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06040"/>
            <a:ext cx="82296" cy="1325880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7706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Prediction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30632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Use odometry motion input u_t to propagate the previous belief. Uncertainty increases because odometry drifts.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452628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251960"/>
            <a:ext cx="82296" cy="1325880"/>
          </a:xfrm>
          <a:prstGeom prst="rect">
            <a:avLst/>
          </a:prstGeom>
          <a:solidFill>
            <a:srgbClr val="275DFF"/>
          </a:solidFill>
          <a:ln w="12700">
            <a:solidFill>
              <a:srgbClr val="275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4165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Correction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4709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Use LiDAR observation z_t and the map m to reduce uncertainty and correct the pose estimate.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1417320"/>
            <a:ext cx="452628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EKF approximation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belief ≈ N(μ_t, Σ_t)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748272" y="3054096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297180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2831"/>
                </a:solidFill>
              </a:rPr>
              <a:t>μ_t is the estimated pose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748272" y="3493008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341071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2831"/>
                </a:solidFill>
              </a:rPr>
              <a:t>Σ_t is the pose uncertainty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748272" y="3931920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384962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2831"/>
                </a:solidFill>
              </a:rPr>
              <a:t>Kalman Gain balances prediction vs. correction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748272" y="4370832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428853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2831"/>
                </a:solidFill>
              </a:rPr>
              <a:t>Nonlinear motion is handled by local linearization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localization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28800"/>
            <a:ext cx="1645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82296" cy="86868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933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ROS 2 bag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/odom + /scan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828800"/>
            <a:ext cx="82296" cy="868680"/>
          </a:xfrm>
          <a:prstGeom prst="rect">
            <a:avLst/>
          </a:prstGeom>
          <a:solidFill>
            <a:srgbClr val="08A045"/>
          </a:solidFill>
          <a:ln w="12700">
            <a:solidFill>
              <a:srgbClr val="08A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slam_toolbox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90088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Build occupancy map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828800"/>
            <a:ext cx="14630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828800"/>
            <a:ext cx="82296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8968" y="1993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58968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.pgm + .yaml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1828800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828800"/>
            <a:ext cx="82296" cy="868680"/>
          </a:xfrm>
          <a:prstGeom prst="rect">
            <a:avLst/>
          </a:prstGeom>
          <a:solidFill>
            <a:srgbClr val="275DFF"/>
          </a:solidFill>
          <a:ln w="12700">
            <a:solidFill>
              <a:srgbClr val="275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Scan matching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0648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LiDAR scan vs map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38360" y="182880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1828800"/>
            <a:ext cx="82296" cy="868680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39528" y="1993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EKF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39528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Odom prediction + scan correction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58568" y="2267712"/>
            <a:ext cx="512064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81728" y="2267712"/>
            <a:ext cx="557784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39128" y="2267712"/>
            <a:ext cx="512064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62288" y="2267712"/>
            <a:ext cx="557784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417320" y="2880360"/>
            <a:ext cx="8961120" cy="1024128"/>
          </a:xfrm>
          <a:prstGeom prst="line">
            <a:avLst/>
          </a:prstGeom>
          <a:noFill/>
          <a:ln w="17780">
            <a:solidFill>
              <a:srgbClr val="AAB2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40965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SLAM trajectory is evaluation only, not an EKF input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57400" y="4572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This separation keeps the final localization algorithm dependent only on the map, odometry and LiDAR.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stage before real bags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</a:rPr>
              <a:t>The first tests were done in Python with full control over the map, trajectory and sensor noise.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57400"/>
            <a:ext cx="82296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221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Synthetic 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Generic indoor room with corridors, walls and obstacles.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205740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2057400"/>
            <a:ext cx="82296" cy="1005840"/>
          </a:xfrm>
          <a:prstGeom prst="rect">
            <a:avLst/>
          </a:prstGeom>
          <a:solidFill>
            <a:srgbClr val="08A045"/>
          </a:solidFill>
          <a:ln w="12700">
            <a:solidFill>
              <a:srgbClr val="08A0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2221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Planned route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8808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Collision-free trajectory used as known ground truth.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205740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2057400"/>
            <a:ext cx="82296" cy="1005840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2221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Noisy sensors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79208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Gaussian odometry drift and LiDAR range noise were simulated.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2560320"/>
            <a:ext cx="256032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03720" y="2560320"/>
            <a:ext cx="256032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3785616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703320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2831"/>
                </a:solidFill>
              </a:rPr>
              <a:t>Validated EKF prediction and correction in a controlled setting.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914400" y="4197096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114800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2831"/>
                </a:solidFill>
              </a:rPr>
              <a:t>Compared weak, stable and strong odometry noise regimes.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914400" y="4608576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526280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2831"/>
                </a:solidFill>
              </a:rPr>
              <a:t>Tested landmark, ICP and scan matching corrections before real implementation.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914400" y="5020056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937760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2831"/>
                </a:solidFill>
              </a:rPr>
              <a:t>Useful for tuning and debugging, but not sufficient to prove real-world robustness.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Approaches tested before the final method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82296" cy="1234440"/>
          </a:xfrm>
          <a:prstGeom prst="rect">
            <a:avLst/>
          </a:prstGeom>
          <a:solidFill>
            <a:srgbClr val="E23B3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Wall landmarks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874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Rejected: long walls do not constrain position along the wall direction and caused ambiguous updates.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417320"/>
            <a:ext cx="82296" cy="123444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581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Corner landmarks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874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More distinctive, but too sparse and unstable in noisy real bags. Associations were often ambiguous.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08960"/>
            <a:ext cx="82296" cy="1234440"/>
          </a:xfrm>
          <a:prstGeom prst="rect">
            <a:avLst/>
          </a:prstGeom>
          <a:solidFill>
            <a:srgbClr val="275DFF"/>
          </a:solidFill>
          <a:ln w="12700">
            <a:solidFill>
              <a:srgbClr val="275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Local ICP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3566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Could help in simulation, but depended on a good initial estimate and sometimes converged to local minima.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108960"/>
            <a:ext cx="82296" cy="1234440"/>
          </a:xfrm>
          <a:prstGeom prst="rect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Machine learning for ICP confidence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3566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Discarded: too little real data, simulated corrections did not generalize reliably.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49640" y="1417320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F0F8F7"/>
          </a:solidFill>
          <a:ln w="12700">
            <a:solidFill>
              <a:srgbClr val="B6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Final choice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23960" y="224028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</a:rPr>
              <a:t>Correlative scan matching uses the full LiDAR scan against the occupancy grid, avoiding fragile manual landmark association.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PIPELINE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and tuned parameters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82296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rosbag_to_simple.py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8745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Extracts odometry CSV and LiDAR NPZ from ROS 2 bags.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06040"/>
            <a:ext cx="82296" cy="914400"/>
          </a:xfrm>
          <a:prstGeom prst="rect">
            <a:avLst/>
          </a:prstGeom>
          <a:solidFill>
            <a:srgbClr val="08A045"/>
          </a:solidFill>
          <a:ln w="12700">
            <a:solidFill>
              <a:srgbClr val="08A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7706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extract_slam_tf_pose.py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3063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Extracts the SLAM trajectory from TF for evaluation.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94760"/>
            <a:ext cx="82296" cy="914400"/>
          </a:xfrm>
          <a:prstGeom prst="rect">
            <a:avLst/>
          </a:prstGeom>
          <a:solidFill>
            <a:srgbClr val="275DFF"/>
          </a:solidFill>
          <a:ln w="12700">
            <a:solidFill>
              <a:srgbClr val="275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9593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ekf_correlative_scanmatch.py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4251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Runs EKF prediction and scan-to-map correction.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1417320"/>
            <a:ext cx="70866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719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Final corridor parameters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81728" y="2148840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B6472"/>
                </a:solidFill>
              </a:rPr>
              <a:t>Scan acceptance threshold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818120" y="2148840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1"/>
                </a:solidFill>
              </a:rPr>
              <a:t>0.12 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81728" y="2532888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B6472"/>
                </a:solidFill>
              </a:rPr>
              <a:t>Correction frequency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818120" y="2532888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1"/>
                </a:solidFill>
              </a:rPr>
              <a:t>every 5 LiDAR scans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81728" y="2916936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B6472"/>
                </a:solidFill>
              </a:rPr>
              <a:t>Beam subsampling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818120" y="2916936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1"/>
                </a:solidFill>
              </a:rPr>
              <a:t>every 5th beam, max 80 points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81728" y="33009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B6472"/>
                </a:solidFill>
              </a:rPr>
              <a:t>Local search window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818120" y="330098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1"/>
                </a:solidFill>
              </a:rPr>
              <a:t>±0.35 m, ±0.18 rad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1728" y="3685032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B6472"/>
                </a:solidFill>
              </a:rPr>
              <a:t>Motion noise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818120" y="3685032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1"/>
                </a:solidFill>
              </a:rPr>
              <a:t>0.08 translation, 0.05 rotation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81728" y="4069080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B6472"/>
                </a:solidFill>
              </a:rPr>
              <a:t>Measurement noise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818120" y="4069080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1"/>
                </a:solidFill>
              </a:rPr>
              <a:t>0.25 m position, 0.10 rad heading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5074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A correction is rejected if the scan does not fit the map well enough.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EXPERIMENT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Corridor result: EKF corrects odometry drift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pic>
        <p:nvPicPr>
          <p:cNvPr id="5" name="Image 0" descr="/Users/diogocosta/Documents/New project 2/versão final/results/corredor/overlay_ekf_vs_odom_vs_sl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62356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989320"/>
            <a:ext cx="1417320" cy="283464"/>
          </a:xfrm>
          <a:prstGeom prst="roundRect">
            <a:avLst>
              <a:gd name="adj" fmla="val 22581"/>
            </a:avLst>
          </a:prstGeom>
          <a:solidFill>
            <a:srgbClr val="08A045">
              <a:alpha val="93000"/>
            </a:srgbClr>
          </a:solidFill>
          <a:ln w="12700">
            <a:solidFill>
              <a:srgbClr val="08A045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604875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SLAM reference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331720" y="5989320"/>
            <a:ext cx="1051560" cy="283464"/>
          </a:xfrm>
          <a:prstGeom prst="roundRect">
            <a:avLst>
              <a:gd name="adj" fmla="val 22581"/>
            </a:avLst>
          </a:prstGeom>
          <a:solidFill>
            <a:srgbClr val="E23B3B">
              <a:alpha val="93000"/>
            </a:srgbClr>
          </a:solidFill>
          <a:ln w="12700">
            <a:solidFill>
              <a:srgbClr val="E23B3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04872" y="6048756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Odometry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566160" y="5989320"/>
            <a:ext cx="777240" cy="283464"/>
          </a:xfrm>
          <a:prstGeom prst="roundRect">
            <a:avLst>
              <a:gd name="adj" fmla="val 22581"/>
            </a:avLst>
          </a:prstGeom>
          <a:solidFill>
            <a:srgbClr val="275DFF">
              <a:alpha val="93000"/>
            </a:srgbClr>
          </a:solidFill>
          <a:ln w="12700">
            <a:solidFill>
              <a:srgbClr val="275D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39312" y="604875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EKF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629400" y="1417320"/>
            <a:ext cx="48006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17190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Localization error vs. SLAM reference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95160" y="2423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3B3B"/>
                </a:solidFill>
              </a:rPr>
              <a:t>0.986 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812280" y="283464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Odometry mean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8732520" y="2423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5DFF"/>
                </a:solidFill>
              </a:rPr>
              <a:t>0.179 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9640" y="283464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EKF mean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6995160" y="3794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3B3B"/>
                </a:solidFill>
              </a:rPr>
              <a:t>1.325 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12280" y="420624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Odometry final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8732520" y="3794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5DFF"/>
                </a:solidFill>
              </a:rPr>
              <a:t>0.097 m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549640" y="420624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EKF final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903720" y="516636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AF4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5266944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Mean error reduced by ~82%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EXPERIMENT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Room result: useful as a limitation case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pic>
        <p:nvPicPr>
          <p:cNvPr id="5" name="Image 0" descr="/Users/diogocosta/Documents/New project 2/versão final/results/sala2/overlay_ekf_vs_odom_vs_slam_uncertain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5074920" cy="4160520"/>
          </a:xfrm>
          <a:prstGeom prst="rect">
            <a:avLst/>
          </a:prstGeom>
        </p:spPr>
      </p:pic>
      <p:pic>
        <p:nvPicPr>
          <p:cNvPr id="6" name="Image 1" descr="/Users/diogocosta/Documents/New project 2/versão final/results/sala2/slam_and_raw_odom_diagnos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71600"/>
            <a:ext cx="5074920" cy="4160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62356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The room experiment showed possible SLAM reference/frame inconsistency, so numerical errors are less reliable.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31520" y="598932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Odom mean 1.243 m → EKF mean 1.043 m; final error remained high.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275320" y="5650992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FFF7E6"/>
          </a:solidFill>
          <a:ln w="12700">
            <a:solidFill>
              <a:srgbClr val="F5D89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30768" y="5815584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8A5A00"/>
                </a:solidFill>
              </a:rPr>
              <a:t>Main lesson: map/reference consistency matters.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CAN DEFEND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82296" cy="1051560"/>
          </a:xfrm>
          <a:prstGeom prst="rect">
            <a:avLst/>
          </a:prstGeom>
          <a:solidFill>
            <a:srgbClr val="275DFF"/>
          </a:solidFill>
          <a:ln w="12700">
            <a:solidFill>
              <a:srgbClr val="275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81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1. EKF is the localization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Odometry performs prediction; LiDAR scan matching provides the correction measurement.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82296" cy="1051560"/>
          </a:xfrm>
          <a:prstGeom prst="rect">
            <a:avLst/>
          </a:prstGeom>
          <a:solidFill>
            <a:srgbClr val="08A045"/>
          </a:solidFill>
          <a:ln w="12700">
            <a:solidFill>
              <a:srgbClr val="08A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9077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2. slam_toolbox has a limited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It generates the map and provides a reference trajectory for evaluation only.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06908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69080"/>
            <a:ext cx="82296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2336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3. Corridor results are strong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4526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Mean error went from 0.986 m to 0.179 m; final error from 1.325 m to 0.097 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1417320"/>
            <a:ext cx="443484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Open issues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931152" y="2414016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5744" y="233172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2831"/>
                </a:solidFill>
              </a:rPr>
              <a:t>Symmetric environments can produce false scan matches.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931152" y="2944368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286207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2831"/>
                </a:solidFill>
              </a:rPr>
              <a:t>Unknown initial pose or kidnapping needs global relocalization.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931152" y="3474720"/>
            <a:ext cx="73152" cy="731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339242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2831"/>
                </a:solidFill>
              </a:rPr>
              <a:t>Evaluation quality depends on a consistent SLAM map and frame tree.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629400" y="5394960"/>
            <a:ext cx="4434840" cy="594360"/>
          </a:xfrm>
          <a:prstGeom prst="roundRect">
            <a:avLst>
              <a:gd name="adj" fmla="val 9231"/>
            </a:avLst>
          </a:prstGeom>
          <a:solidFill>
            <a:srgbClr val="EAF4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555955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Final takeaway: EKF + scan matching is a practical indoor localization pipeline for the Pioneer 3-DX.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4"/>
                </a:solidFill>
              </a:rPr>
              <a:t>EKF Localization for Pioneer 3-DX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4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Instituto Superior Técnico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Kalman Filter Localization</dc:title>
  <dc:subject>EKF localization for Pioneer 3-DX</dc:subject>
  <dc:creator>Autonomous Systems Project</dc:creator>
  <cp:lastModifiedBy>Autonomous Systems Project</cp:lastModifiedBy>
  <cp:revision>1</cp:revision>
  <dcterms:created xsi:type="dcterms:W3CDTF">2026-06-04T16:24:24Z</dcterms:created>
  <dcterms:modified xsi:type="dcterms:W3CDTF">2026-06-04T16:24:24Z</dcterms:modified>
</cp:coreProperties>
</file>