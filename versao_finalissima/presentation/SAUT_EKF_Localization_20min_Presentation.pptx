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503920" cy="59436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Aptos"/>
              </a:rPr>
              <a:t>Extended Kalman Filter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7863840" cy="32004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Aptos"/>
              </a:rPr>
              <a:t>Pioneer 3-DX using wheel odometry and 2D LiDAR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Core idea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Use odometry for motion prediction and LiDAR scan matching against a map for EKF correction.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82296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01568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Main result</a:t>
            </a:r>
          </a:p>
          <a:p>
            <a:pPr>
              <a:spcBef>
                <a:spcPts val="400"/>
              </a:spcBef>
              <a:defRPr sz="2000">
                <a:solidFill>
                  <a:srgbClr val="0F172A"/>
                </a:solidFill>
                <a:latin typeface="Aptos"/>
              </a:defRPr>
            </a:pPr>
            <a:r>
              <a:t>Corridor ATE-RMSE: 1.048 m -&gt; 0.220 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01568"/>
            <a:ext cx="82296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verlay_ekf_vs_odom_vs_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738" y="822960"/>
            <a:ext cx="4641323" cy="5166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989320"/>
            <a:ext cx="5029200" cy="2743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Autonomous Systems - 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Indoor localization with noisy onboard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486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Indoor robots cannot rely on GPS.</a:t>
            </a:r>
          </a:p>
          <a:p>
            <a:pPr>
              <a:spcAft>
                <a:spcPts val="7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Wheel odometry is smooth, but accumulates drift.</a:t>
            </a:r>
          </a:p>
          <a:p>
            <a:pPr>
              <a:spcAft>
                <a:spcPts val="7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LiDAR observes the environment, but measurements are noisy and map-dependent.</a:t>
            </a:r>
          </a:p>
          <a:p>
            <a:pPr>
              <a:spcAft>
                <a:spcPts val="7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The goal is to estimate the robot pose in a known map: x, y, theta.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08760"/>
            <a:ext cx="4297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Project objective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Develop an EKF localization pipeline for the Pioneer 3-DX using odometry and LiDAR data recorded in ROS 2 bags.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50876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3246120"/>
            <a:ext cx="4297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Robustness question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What happens when drift grows, the initial pose is uncertain, or the robot is kidnapped?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3246120"/>
            <a:ext cx="82296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Robot and Sensors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Differential-drive robot with relative and map-based sensing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Pioneer 3-DX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Differential-drive mobile robot moving on a 2D plane.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Wheel odometry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Relative motion estimate from wheel encoders. Used in EKF prediction.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82296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2D LiDAR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Range measurements around the robot. Used for scan-to-map correction.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82296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3200400" cy="32004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State representation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7C3AED"/>
                </a:solidFill>
                <a:latin typeface="Aptos"/>
              </a:rPr>
              <a:t>x_t = [ x, y, theta ]^T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x and y are the position in the map; theta is the robot heading.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2044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3200400" cy="32004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Movement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2044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7C3AED"/>
                </a:solidFill>
                <a:latin typeface="Aptos"/>
              </a:rPr>
              <a:t>Differential-drive planar motion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The odometry displacement and heading change are applied recursively to propagate the pose.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2044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Sensor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Why sensor fusion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46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Odometry errors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Encoder noise</a:t>
            </a:r>
            <a:br/>
            <a:r>
              <a:t>Wheel slip</a:t>
            </a:r>
            <a:br/>
            <a:r>
              <a:t>Uneven floor</a:t>
            </a:r>
            <a:br/>
            <a:r>
              <a:t>Calibration errors</a:t>
            </a:r>
            <a:br/>
            <a:r>
              <a:t>Accumulated drift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82296" cy="2834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846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16A34A"/>
                </a:solidFill>
                <a:latin typeface="Aptos"/>
              </a:rPr>
              <a:t>LiDAR errors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Range noise</a:t>
            </a:r>
            <a:br/>
            <a:r>
              <a:t>Reflections</a:t>
            </a:r>
            <a:br/>
            <a:r>
              <a:t>Occlusions</a:t>
            </a:r>
            <a:br/>
            <a:r>
              <a:t>Limited range</a:t>
            </a:r>
            <a:br/>
            <a:r>
              <a:t>Frame misalignment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82296" cy="2834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470916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Fusion principle</a:t>
            </a:r>
          </a:p>
          <a:p>
            <a:pPr>
              <a:spcBef>
                <a:spcPts val="400"/>
              </a:spcBef>
              <a:defRPr sz="1900">
                <a:solidFill>
                  <a:srgbClr val="0F172A"/>
                </a:solidFill>
                <a:latin typeface="Aptos"/>
              </a:defRPr>
            </a:pPr>
            <a:r>
              <a:t>Odometry gives short-term smooth motion; LiDAR provides corrections relative to the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70916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Final 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What is used for localization and what is only used for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968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ROS bag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/odom + /scan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143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186994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417320"/>
            <a:ext cx="25968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7C3AED"/>
                </a:solidFill>
                <a:latin typeface="Aptos"/>
              </a:rPr>
              <a:t>slam_toolbox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occupancy grid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417320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5896" y="186994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17320"/>
            <a:ext cx="25968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Python EKF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odom prediction + LiDAR correction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417320"/>
            <a:ext cx="82296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384" y="186994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1417320"/>
            <a:ext cx="25968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Output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EKF trajectory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417320"/>
            <a:ext cx="82296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3154680"/>
            <a:ext cx="28468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7C3AED"/>
                </a:solidFill>
                <a:latin typeface="Aptos"/>
              </a:rPr>
              <a:t>TF from SLAM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map -&gt; odom -&gt; base_link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154680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744" y="356158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5904" y="3154680"/>
            <a:ext cx="28468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Reference CSV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SLAM-based trajectory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5904" y="3154680"/>
            <a:ext cx="82296" cy="10515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0167" y="356158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7328" y="3154680"/>
            <a:ext cx="28468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D97706"/>
                </a:solidFill>
                <a:latin typeface="Aptos"/>
              </a:rPr>
              <a:t>Evaluation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compare odom vs EKF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77328" y="3154680"/>
            <a:ext cx="82296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71600" y="4800600"/>
            <a:ext cx="9509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Important distinction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The EKF does not use the slam_toolbox trajectory as input. It uses the map, odometry and LiDAR scans. The SLAM trajectory is only an evaluation reference.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800600"/>
            <a:ext cx="82296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Probabilistic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robot maintains a belief, not a perfect 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Belief</a:t>
            </a:r>
          </a:p>
          <a:p>
            <a:pPr>
              <a:spcBef>
                <a:spcPts val="400"/>
              </a:spcBef>
              <a:defRPr sz="2100">
                <a:solidFill>
                  <a:srgbClr val="0F172A"/>
                </a:solidFill>
                <a:latin typeface="Aptos"/>
              </a:defRPr>
            </a:pPr>
            <a:r>
              <a:t>bel(x_t) = p(x_t | z_1:t, u_1:t, m)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16A34A"/>
                </a:solidFill>
                <a:latin typeface="Aptos"/>
              </a:rPr>
              <a:t>Variables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x_t: robot pose</a:t>
            </a:r>
            <a:br/>
            <a:r>
              <a:t>z_t: sensor measurements</a:t>
            </a:r>
            <a:br/>
            <a:r>
              <a:t>u_t: odometry inputs</a:t>
            </a:r>
            <a:br/>
            <a:r>
              <a:t>m: known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08760"/>
            <a:ext cx="82296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79476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Interpretation</a:t>
            </a:r>
          </a:p>
          <a:p>
            <a:pPr>
              <a:spcBef>
                <a:spcPts val="400"/>
              </a:spcBef>
              <a:defRPr sz="2000">
                <a:solidFill>
                  <a:srgbClr val="0F172A"/>
                </a:solidFill>
                <a:latin typeface="Aptos"/>
              </a:defRPr>
            </a:pPr>
            <a:r>
              <a:t>The algorithm estimates the most likely pose given all previous odometry inputs, LiDAR observations and the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794760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Bayes Filter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Localization as prediction followed by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Prediction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Previous belief + odometry</a:t>
            </a:r>
            <a:br/>
            <a:br/>
            <a:r>
              <a:t>bar bel(x_t) = integral p(x_t | u_t, x_{t-1}) bel(x_{t-1}) dx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82296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16A34A"/>
                </a:solidFill>
                <a:latin typeface="Aptos"/>
              </a:rPr>
              <a:t>Correction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Predicted belief + LiDAR observation</a:t>
            </a:r>
            <a:br/>
            <a:br/>
            <a:r>
              <a:t>bel(x_t) = eta p(z_t | x_t, m) bar bel(x_t)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82296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4160520"/>
            <a:ext cx="8503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Why EKF?</a:t>
            </a:r>
          </a:p>
          <a:p>
            <a:pPr>
              <a:spcBef>
                <a:spcPts val="400"/>
              </a:spcBef>
              <a:defRPr sz="1900">
                <a:solidFill>
                  <a:srgbClr val="0F172A"/>
                </a:solidFill>
                <a:latin typeface="Aptos"/>
              </a:defRPr>
            </a:pPr>
            <a:r>
              <a:t>The state is continuous and the motion model is nonlinear, so the belief is approximated by a Gaussian mean and covariance.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16052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EKF Prediction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Odometry propagates the robot pose and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029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State prediction</a:t>
            </a:r>
          </a:p>
          <a:p>
            <a:pPr>
              <a:spcBef>
                <a:spcPts val="400"/>
              </a:spcBef>
              <a:defRPr sz="2100">
                <a:solidFill>
                  <a:srgbClr val="0F172A"/>
                </a:solidFill>
                <a:latin typeface="Aptos"/>
              </a:defRPr>
            </a:pPr>
            <a:r>
              <a:t>bar mu_t = g(u_t, mu_{t-1})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82296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5029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Covariance prediction</a:t>
            </a:r>
          </a:p>
          <a:p>
            <a:pPr>
              <a:spcBef>
                <a:spcPts val="400"/>
              </a:spcBef>
              <a:defRPr sz="1900">
                <a:solidFill>
                  <a:srgbClr val="0F172A"/>
                </a:solidFill>
                <a:latin typeface="Aptos"/>
              </a:defRPr>
            </a:pPr>
            <a:r>
              <a:t>bar Sigma_t = G_t Sigma_{t-1} G_t^T + R_t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82296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49377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Motion model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x_t = x_{t-1} + ds cos(theta + dtheta)</a:t>
            </a:r>
            <a:br/>
            <a:r>
              <a:t>y_t = y_{t-1} + ds sin(theta + dtheta)</a:t>
            </a:r>
            <a:br/>
            <a:r>
              <a:t>theta_t = theta_{t-1} + dtheta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65960" y="4251960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Meaning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Each odometry increment moves the EKF estimate forward. The covariance grows because odometry is noisy.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4251960"/>
            <a:ext cx="82296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EKF Correction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LiDAR scan matching becomes an absolute pose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16A34A"/>
                </a:solidFill>
                <a:latin typeface="Aptos"/>
              </a:rPr>
              <a:t>Measurement</a:t>
            </a:r>
          </a:p>
          <a:p>
            <a:pPr>
              <a:spcBef>
                <a:spcPts val="400"/>
              </a:spcBef>
              <a:defRPr sz="2000">
                <a:solidFill>
                  <a:srgbClr val="0F172A"/>
                </a:solidFill>
                <a:latin typeface="Aptos"/>
              </a:defRPr>
            </a:pPr>
            <a:r>
              <a:t>z_scan = [ x_scan, y_scan, theta_scan ]^T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82296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7C3AED"/>
                </a:solidFill>
                <a:latin typeface="Aptos"/>
              </a:rPr>
              <a:t>Innovation</a:t>
            </a:r>
          </a:p>
          <a:p>
            <a:pPr>
              <a:spcBef>
                <a:spcPts val="400"/>
              </a:spcBef>
              <a:defRPr sz="2000">
                <a:solidFill>
                  <a:srgbClr val="0F172A"/>
                </a:solidFill>
                <a:latin typeface="Aptos"/>
              </a:defRPr>
            </a:pPr>
            <a:r>
              <a:t>innovation = z_scan - h(bar mu_t)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82296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4937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Kalman Gain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K_t = bar Sigma_t H_t^T (H_t bar Sigma_t H_t^T + Q_t)^-1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82296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88036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Update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mu_t = bar mu_t + K_t innovation</a:t>
            </a:r>
            <a:br/>
            <a:r>
              <a:t>Sigma_t = (I - K_t H_t) bar Sigma_t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80360"/>
            <a:ext cx="82296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4892040"/>
            <a:ext cx="9326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Interpretation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The Kalman Gain balances trust between odometry prediction and LiDAR scan matching measurement.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4892040"/>
            <a:ext cx="82296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LiDAR Scan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How the LiDAR produces the EKF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09946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1. Scan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ranges + angles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9814" y="182422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6974" y="1325880"/>
            <a:ext cx="209946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2. Points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x = r cos a</a:t>
            </a:r>
            <a:br/>
            <a:r>
              <a:t>y = r sin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6974" y="1325880"/>
            <a:ext cx="82296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3868" y="182422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1028" y="1325880"/>
            <a:ext cx="209946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3. Candidates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poses around EKF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1028" y="1325880"/>
            <a:ext cx="82296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7923" y="182422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5083" y="1325880"/>
            <a:ext cx="209946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D97706"/>
                </a:solidFill>
                <a:latin typeface="Aptos"/>
              </a:rPr>
              <a:t>4. Score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distance to occupied map cells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5083" y="1325880"/>
            <a:ext cx="82296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1977" y="1824228"/>
            <a:ext cx="164592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9137" y="1325880"/>
            <a:ext cx="209946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7C3AED"/>
                </a:solidFill>
                <a:latin typeface="Aptos"/>
              </a:rPr>
              <a:t>5. Update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Aptos"/>
              </a:defRPr>
            </a:pPr>
            <a:r>
              <a:t>best pose -&gt; EKF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9137" y="1325880"/>
            <a:ext cx="82296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1546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Distance transform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The occupancy map is converted into a distance map. Candidate poses get low scores when projected LiDAR points fall close to occupied cells.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15468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3154680"/>
            <a:ext cx="4663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Acceptance gate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A correction is accepted only if the scan-matching score is low enough and enough LiDAR points are valid.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154680"/>
            <a:ext cx="82296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Implementation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Final submission code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01_extract_rosbag_sensor_data.py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Reads /odom and /scan from the ROS bag and writes odometry.csv + lidar_scans.npz.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02_extract_slam_reference_pose.py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Extracts map -&gt; base_link pose by composing map -&gt; odom and odom -&gt; base_link TF transforms.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03_run_ekf_scan_matching_localization.py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Runs EKF prediction from odometry and LiDAR scan-to-map correction.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82296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04_compute_localization_metrics.py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Computes ATE, RPE, heading error and generates evaluation plots.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880360"/>
            <a:ext cx="82296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4800600"/>
            <a:ext cx="9052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Design choice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ROS 2 is used to record/process bags; Python is used offline for localization experiments and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4800600"/>
            <a:ext cx="82296" cy="7315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Map Generation with slam_toolbox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Map first, localization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corredor_sla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48" y="1325880"/>
            <a:ext cx="3737702" cy="4160520"/>
          </a:xfrm>
          <a:prstGeom prst="rect">
            <a:avLst/>
          </a:prstGeom>
        </p:spPr>
      </p:pic>
      <p:pic>
        <p:nvPicPr>
          <p:cNvPr id="7" name="Picture 6" descr="sala_2_slam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265" y="1325880"/>
            <a:ext cx="440055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5532120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Corridor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5532120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Room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833872"/>
            <a:ext cx="9144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Use in final method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The occupancy grid map is used by scan matching. The SLAM pose is used only to evaluate the estimated trajectories.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5833872"/>
            <a:ext cx="82296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Tuned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Practical choices that made the method 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Correction rate</a:t>
            </a:r>
          </a:p>
          <a:p>
            <a:pPr>
              <a:spcBef>
                <a:spcPts val="400"/>
              </a:spcBef>
              <a:defRPr sz="1900">
                <a:solidFill>
                  <a:srgbClr val="0F172A"/>
                </a:solidFill>
                <a:latin typeface="Aptos"/>
              </a:defRPr>
            </a:pPr>
            <a:r>
              <a:t>Correction every 5 LiDAR scans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Scan reduction</a:t>
            </a:r>
          </a:p>
          <a:p>
            <a:pPr>
              <a:spcBef>
                <a:spcPts val="400"/>
              </a:spcBef>
              <a:defRPr sz="1900">
                <a:solidFill>
                  <a:srgbClr val="0F172A"/>
                </a:solidFill>
                <a:latin typeface="Aptos"/>
              </a:defRPr>
            </a:pPr>
            <a:r>
              <a:t>Every 4th beam, max 90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82296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Search window</a:t>
            </a:r>
          </a:p>
          <a:p>
            <a:pPr>
              <a:spcBef>
                <a:spcPts val="400"/>
              </a:spcBef>
              <a:defRPr sz="1900">
                <a:solidFill>
                  <a:srgbClr val="0F172A"/>
                </a:solidFill>
                <a:latin typeface="Aptos"/>
              </a:defRPr>
            </a:pPr>
            <a:r>
              <a:t>+/-0.35 m and +/-0.25 rad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1732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88036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Acceptance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score gate around 0.18 m</a:t>
            </a:r>
            <a:br/>
            <a:r>
              <a:t>minimum 25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80360"/>
            <a:ext cx="82296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88036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EKF noise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motion: 0.08 trans, 0.05 rot</a:t>
            </a:r>
            <a:br/>
            <a:r>
              <a:t>measurement: 0.20 m, 0.08 rad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880360"/>
            <a:ext cx="82296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288036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Why gates matter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Bad scan matches can be worse than no correction, especially in symmetric areas.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82296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17320" y="4800600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Important answer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The parameters control the balance between trusting odometry and trusting LiDAR. They were tuned experimentally using the corridor bag.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80060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Approaches Tested Before the Final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What did not work well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Wall landmarks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Long walls are ambiguous along their direction, especially in corridors.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82296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Corner landmarks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More distinctive, but too few reliable detections and difficult data association.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82296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ICP correction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Can converge to local minima and depends strongly on a good initial 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0360"/>
            <a:ext cx="82296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Machine learning idea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Rejected because the amount of real data was too small for robust training.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880360"/>
            <a:ext cx="82296" cy="10058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4709160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Final choice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Correlative scan matching uses the whole LiDAR scan and the map, avoiding fragile manual landmark association.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4709160"/>
            <a:ext cx="82296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Simulation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Controlled tests before real robot bags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15</a:t>
            </a:r>
          </a:p>
        </p:txBody>
      </p:sp>
      <p:pic>
        <p:nvPicPr>
          <p:cNvPr id="6" name="Picture 5" descr="plot_loop_high_kidnap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6040"/>
            <a:ext cx="5760720" cy="2057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12280" y="1325880"/>
            <a:ext cx="4297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Why simulate?</a:t>
            </a:r>
          </a:p>
          <a:p>
            <a:pPr>
              <a:spcBef>
                <a:spcPts val="400"/>
              </a:spcBef>
              <a:defRPr sz="1700">
                <a:solidFill>
                  <a:srgbClr val="0F172A"/>
                </a:solidFill>
                <a:latin typeface="Aptos"/>
              </a:defRPr>
            </a:pPr>
            <a:r>
              <a:t>Known ground truth</a:t>
            </a:r>
            <a:br/>
            <a:r>
              <a:t>Controlled odometry drift</a:t>
            </a:r>
            <a:br/>
            <a:r>
              <a:t>Controlled LiDAR noise</a:t>
            </a:r>
            <a:br/>
            <a:r>
              <a:t>Fast parameter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1325880"/>
            <a:ext cx="82296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0" y="3246120"/>
            <a:ext cx="4297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Observed behavior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Loop/high noise: 1.342 m -&gt; 0.091 m RMSE</a:t>
            </a:r>
            <a:br/>
            <a:r>
              <a:t>Loop/low noise: 0.221 m -&gt; 0.072 m RMSE</a:t>
            </a:r>
            <a:br/>
            <a:r>
              <a:t>L-shape/medium: 0.070 m -&gt; 0.120 m 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3246120"/>
            <a:ext cx="82296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5166360"/>
            <a:ext cx="4297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Lesson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EKF helps most when drift is significant and the map geometry is informative.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5166360"/>
            <a:ext cx="82296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Corridor Experiment: 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Consistent map and reference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16</a:t>
            </a:r>
          </a:p>
        </p:txBody>
      </p:sp>
      <p:pic>
        <p:nvPicPr>
          <p:cNvPr id="6" name="Picture 5" descr="overlay_ekf_vs_odom_vs_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41" y="1170432"/>
            <a:ext cx="4682397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34440"/>
            <a:ext cx="22402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050" b="1">
                <a:solidFill>
                  <a:srgbClr val="DC2626"/>
                </a:solidFill>
                <a:latin typeface="Aptos"/>
              </a:rPr>
              <a:t>Odometry RMSE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1.048 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82296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64040" y="1234440"/>
            <a:ext cx="22402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EKF RMSE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0.220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1234440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2331720"/>
            <a:ext cx="22402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050" b="1">
                <a:solidFill>
                  <a:srgbClr val="DC2626"/>
                </a:solidFill>
                <a:latin typeface="Aptos"/>
              </a:rPr>
              <a:t>Odometry final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1.325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331720"/>
            <a:ext cx="82296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2331720"/>
            <a:ext cx="22402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EKF final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0.097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331720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370332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Interpretation</a:t>
            </a:r>
          </a:p>
          <a:p>
            <a:pPr>
              <a:spcBef>
                <a:spcPts val="400"/>
              </a:spcBef>
              <a:defRPr sz="1600">
                <a:solidFill>
                  <a:srgbClr val="0F172A"/>
                </a:solidFill>
                <a:latin typeface="Aptos"/>
              </a:defRPr>
            </a:pPr>
            <a:r>
              <a:t>The red trajectory drifts away from the reference, while the blue EKF trajectory remains close to it. This is the strongest evidence that the LiDAR correction is useful.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703320"/>
            <a:ext cx="82296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382512"/>
            <a:ext cx="5669280" cy="2286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Green: SLAM-based reference | Red: raw odometry | Blue: EKF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Corridor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Error over time and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17</a:t>
            </a:r>
          </a:p>
        </p:txBody>
      </p:sp>
      <p:pic>
        <p:nvPicPr>
          <p:cNvPr id="6" name="Picture 5" descr="errors_corredor_ekf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55648"/>
            <a:ext cx="5349240" cy="3209544"/>
          </a:xfrm>
          <a:prstGeom prst="rect">
            <a:avLst/>
          </a:prstGeom>
        </p:spPr>
      </p:pic>
      <p:pic>
        <p:nvPicPr>
          <p:cNvPr id="7" name="Picture 6" descr="cdf_corredor_ekf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49977"/>
            <a:ext cx="5349240" cy="38208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645920" y="5559552"/>
            <a:ext cx="8961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Metric summary</a:t>
            </a:r>
          </a:p>
          <a:p>
            <a:pPr>
              <a:spcBef>
                <a:spcPts val="400"/>
              </a:spcBef>
              <a:defRPr sz="1400">
                <a:solidFill>
                  <a:srgbClr val="0F172A"/>
                </a:solidFill>
                <a:latin typeface="Aptos"/>
              </a:defRPr>
            </a:pPr>
            <a:r>
              <a:t>ATE mean: 0.179 m</a:t>
            </a:r>
            <a:br/>
            <a:r>
              <a:t>ATE-RMSE: 0.220 m</a:t>
            </a:r>
            <a:br/>
            <a:r>
              <a:t>ATE max: 0.537 m</a:t>
            </a:r>
            <a:br/>
            <a:r>
              <a:t>Heading RMSE: 3.45 deg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5559552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EKF v2 Consistency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Innovation gating and NIS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18</a:t>
            </a:r>
          </a:p>
        </p:txBody>
      </p:sp>
      <p:pic>
        <p:nvPicPr>
          <p:cNvPr id="6" name="Picture 5" descr="comparison_v1_v2_corre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9760"/>
            <a:ext cx="5212080" cy="2895600"/>
          </a:xfrm>
          <a:prstGeom prst="rect">
            <a:avLst/>
          </a:prstGeom>
        </p:spPr>
      </p:pic>
      <p:pic>
        <p:nvPicPr>
          <p:cNvPr id="7" name="Picture 6" descr="nis_histogram_corre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34540"/>
            <a:ext cx="5212080" cy="2606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325880" y="5577840"/>
            <a:ext cx="9509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Why not final?</a:t>
            </a:r>
          </a:p>
          <a:p>
            <a:pPr>
              <a:spcBef>
                <a:spcPts val="400"/>
              </a:spcBef>
              <a:defRPr sz="1400">
                <a:solidFill>
                  <a:srgbClr val="0F172A"/>
                </a:solidFill>
                <a:latin typeface="Aptos"/>
              </a:defRPr>
            </a:pPr>
            <a:r>
              <a:t>EKF v2 rejected 66 / 1435 candidates and had mean NIS about 1.98. Final error was slightly better, but RMSE was slightly worse than v1.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577840"/>
            <a:ext cx="82296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Room Experiment: Limitation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result is weaker because the reference appears inconsistent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19</a:t>
            </a:r>
          </a:p>
        </p:txBody>
      </p:sp>
      <p:pic>
        <p:nvPicPr>
          <p:cNvPr id="6" name="Picture 5" descr="overlay_ekf_vs_odom_vs_slam_uncertain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9" y="1234440"/>
            <a:ext cx="4593980" cy="4343400"/>
          </a:xfrm>
          <a:prstGeom prst="rect">
            <a:avLst/>
          </a:prstGeom>
        </p:spPr>
      </p:pic>
      <p:pic>
        <p:nvPicPr>
          <p:cNvPr id="7" name="Picture 6" descr="slam_and_raw_odom_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409" y="1234440"/>
            <a:ext cx="4593980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97280" y="5669280"/>
            <a:ext cx="9966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DC2626"/>
                </a:solidFill>
                <a:latin typeface="Aptos"/>
              </a:rPr>
              <a:t>Interpretation</a:t>
            </a:r>
          </a:p>
          <a:p>
            <a:pPr>
              <a:spcBef>
                <a:spcPts val="400"/>
              </a:spcBef>
              <a:defRPr sz="1400">
                <a:solidFill>
                  <a:srgbClr val="0F172A"/>
                </a:solidFill>
                <a:latin typeface="Aptos"/>
              </a:defRPr>
            </a:pPr>
            <a:r>
              <a:t>The room experiment should not be used as the main numerical proof. The SLAM-based reference appears misaligned with the map/odometry frame.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669280"/>
            <a:ext cx="82296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Kidnapping and Global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What the EKF can and cannot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16A34A"/>
                </a:solidFill>
                <a:latin typeface="Aptos"/>
              </a:rPr>
              <a:t>EKF strength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Local localization when the initial pose is approximately known.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82296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EKF limitation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Single-hypothesis filter: it cannot represent multiple possible global positions.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82296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D97706"/>
                </a:solidFill>
                <a:latin typeface="Aptos"/>
              </a:rPr>
              <a:t>Kidnapping detection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Large innovation or abnormal NIS can indicate that the estimate became inconsistent.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71800"/>
            <a:ext cx="82296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971800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Future recovery module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Particle Filter / AMCL could provide global relocalization, then the EKF can continue local tracking.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97180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508760" y="4892040"/>
            <a:ext cx="9144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Key answer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This project keeps EKF as the main estimator. A global module would be an auxiliary recovery mechanism, not a replacement for EKF.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4892040"/>
            <a:ext cx="82296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What was achieved and what remains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Achieved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Implemented EKF localization using odometry prediction and LiDAR scan matching correction.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82296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Result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Corridor ATE-RMSE decreased from 1.048 m to 0.220 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Main lesson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Localization quality depends on the filter, the map, the sensor calibration and the measurement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0360"/>
            <a:ext cx="82296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Limitations</a:t>
            </a:r>
          </a:p>
          <a:p>
            <a:pPr>
              <a:spcBef>
                <a:spcPts val="400"/>
              </a:spcBef>
              <a:defRPr sz="1800">
                <a:solidFill>
                  <a:srgbClr val="0F172A"/>
                </a:solidFill>
                <a:latin typeface="Aptos"/>
              </a:defRPr>
            </a:pPr>
            <a:r>
              <a:t>Room evaluation affected by reference/map inconsistency; kidnapping requires global relocalization.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880360"/>
            <a:ext cx="82296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Final takeaway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94960"/>
            <a:ext cx="10241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EKF + LiDAR scan matching is effective for local indoor localization when the map and frames are consistent.</a:t>
            </a:r>
          </a:p>
          <a:p>
            <a:pPr>
              <a:spcBef>
                <a:spcPts val="400"/>
              </a:spcBef>
              <a:defRPr sz="100">
                <a:solidFill>
                  <a:srgbClr val="0F172A"/>
                </a:solidFill>
                <a:latin typeface="Aptos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914400" y="5394960"/>
            <a:ext cx="82296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Backup: Likely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Short answers for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DC2626"/>
                </a:solidFill>
                <a:latin typeface="Aptos"/>
              </a:rPr>
              <a:t>Does the EKF use SLAM pose?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No. SLAM pose is only used for evaluation. EKF input is odometry + LiDAR + 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D97706"/>
                </a:solidFill>
                <a:latin typeface="Aptos"/>
              </a:rPr>
              <a:t>Why not wall landmarks?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Long walls are ambiguous along their direction and caused unreliable associations.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82296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Where does LiDAR enter?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The scan is matched against the occupancy map; the best pose is used as the EKF measurement.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82296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74320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Why EKF?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The motion model is nonlinear and the belief is represented by mean and covariance.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743200"/>
            <a:ext cx="82296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4343400"/>
            <a:ext cx="5943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 bIns="64008"/>
          <a:lstStyle/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Does it solve kidnapping?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  <a:latin typeface="Aptos"/>
              </a:defRPr>
            </a:pPr>
            <a:r>
              <a:t>Not fully. EKF can detect inconsistency, but global recovery needs PF/AMCL.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34340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